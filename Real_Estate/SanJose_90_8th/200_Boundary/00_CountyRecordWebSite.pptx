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3D6879-12CC-405D-83E5-FE4A2AE7FB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31B56B-4FF6-4AA2-9D4C-1DCAA3684C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3A32F4-BFB7-4232-B273-B23077C8B1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6E0F95-4FD5-45DD-896E-87AFC57D31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E687A3-6854-421F-A45C-2C79146ACB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2040" cy="68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04CC9D-CD29-4649-B99A-96EBDE18D5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68C822-1740-4B78-BB5F-364981B20A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AFB083-5D98-490D-AD7E-0A2A81897B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F04692-B355-4DAE-A0B9-A72810CD0B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8E7DCD-B68E-46FD-9054-593F111E4C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747201-F5D5-40CF-8A36-E70F8518D0C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AF9239-0B0F-4C89-8DDA-978CE54F07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TW" sz="4400" spc="-1" strike="noStrike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AEA7B3-9BF2-4FC3-8617-E2F0E5F1119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2130480"/>
            <a:ext cx="9143640" cy="146952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txBody>
          <a:bodyPr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00"/>
                </a:solidFill>
                <a:latin typeface="Calibri"/>
              </a:rPr>
              <a:t>1 County Record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2" name="Picture 8" descr=""/>
          <p:cNvPicPr/>
          <p:nvPr/>
        </p:nvPicPr>
        <p:blipFill>
          <a:blip r:embed="rId1"/>
          <a:stretch/>
        </p:blipFill>
        <p:spPr>
          <a:xfrm>
            <a:off x="3780000" y="3645000"/>
            <a:ext cx="1456200" cy="10429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C68858-A68D-41A3-8B70-CADAD92C4804}" type="slidenum">
              <a:t>1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D4ED2E3D-9489-4F59-8CA7-326DEAB0E6B5}" type="datetime1">
              <a:rPr lang="en-US"/>
              <a:t>11/01/2025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764280"/>
          </a:xfrm>
          <a:prstGeom prst="rect">
            <a:avLst/>
          </a:prstGeom>
          <a:gradFill rotWithShape="0">
            <a:gsLst>
              <a:gs pos="0">
                <a:srgbClr val="bf0000"/>
              </a:gs>
              <a:gs pos="100000">
                <a:srgbClr val="710000"/>
              </a:gs>
            </a:gsLst>
            <a:lin ang="8100000"/>
          </a:gradFill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00"/>
                </a:solidFill>
                <a:latin typeface="Calibri"/>
              </a:rPr>
              <a:t>1 County Record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323640" y="1268640"/>
            <a:ext cx="8136720" cy="1703160"/>
          </a:xfrm>
          <a:prstGeom prst="rect">
            <a:avLst/>
          </a:prstGeom>
          <a:noFill/>
          <a:ln w="0">
            <a:solidFill>
              <a:srgbClr val="c00000"/>
            </a:solidFill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70c0"/>
              </a:buClr>
              <a:buSzPct val="80000"/>
              <a:buFont typeface="Wingdings" charset="2"/>
              <a:buChar char=""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County Record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70c0"/>
              </a:buClr>
              <a:buSzPct val="80000"/>
              <a:buFont typeface="Wingdings" charset="2"/>
              <a:buChar char=""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https://www.sccassessor.org/online-services/property-search/search-by-map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70c0"/>
              </a:buClr>
              <a:buSzPct val="80000"/>
              <a:buFont typeface="Wingdings" charset="2"/>
              <a:buChar char=""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This is the APN 46718011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70c0"/>
              </a:buClr>
              <a:buSzPct val="80000"/>
              <a:buFont typeface="Wingdings" charset="2"/>
              <a:buChar char=""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https://www.sccassessor.org/index.php/apn-redirect?ApnValue=46718011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endParaRPr b="0" lang="en-US" sz="1600" spc="-1" strike="noStrike">
              <a:latin typeface="Arial"/>
            </a:endParaRPr>
          </a:p>
        </p:txBody>
      </p:sp>
      <p:sp>
        <p:nvSpPr>
          <p:cNvPr id="45" name="標題 1"/>
          <p:cNvSpPr/>
          <p:nvPr/>
        </p:nvSpPr>
        <p:spPr>
          <a:xfrm>
            <a:off x="0" y="764640"/>
            <a:ext cx="9143640" cy="359640"/>
          </a:xfrm>
          <a:prstGeom prst="rect">
            <a:avLst/>
          </a:prstGeom>
          <a:gradFill rotWithShape="0">
            <a:gsLst>
              <a:gs pos="0">
                <a:srgbClr val="00afef"/>
              </a:gs>
              <a:gs pos="100000">
                <a:srgbClr val="00688e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marL="343080" indent="-343080">
              <a:lnSpc>
                <a:spcPct val="100000"/>
              </a:lnSpc>
              <a:buClr>
                <a:srgbClr val="0070c0"/>
              </a:buClr>
              <a:buSzPct val="80000"/>
              <a:buFont typeface="Wingdings" charset="2"/>
              <a:buChar char=""/>
            </a:pP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https://www.sccassessor.org/online-services/property-search/search-by-map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9DCE23-2254-4BE9-89D6-18F05969C33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E429CA51-A88D-4F2C-AA95-0F9821B00853}" type="datetime1">
              <a:rPr lang="en-US"/>
              <a:t>11/01/2025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764280"/>
          </a:xfrm>
          <a:prstGeom prst="rect">
            <a:avLst/>
          </a:prstGeom>
          <a:gradFill rotWithShape="0">
            <a:gsLst>
              <a:gs pos="0">
                <a:srgbClr val="bf0000"/>
              </a:gs>
              <a:gs pos="100000">
                <a:srgbClr val="710000"/>
              </a:gs>
            </a:gsLst>
            <a:lin ang="8100000"/>
          </a:gradFill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00"/>
                </a:solidFill>
                <a:latin typeface="Calibri"/>
              </a:rPr>
              <a:t>1 County Record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323640" y="1268640"/>
            <a:ext cx="8136720" cy="1703160"/>
          </a:xfrm>
          <a:prstGeom prst="rect">
            <a:avLst/>
          </a:prstGeom>
          <a:noFill/>
          <a:ln w="0">
            <a:solidFill>
              <a:srgbClr val="c00000"/>
            </a:solidFill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70c0"/>
              </a:buClr>
              <a:buSzPct val="80000"/>
              <a:buFont typeface="Wingdings" charset="2"/>
              <a:buChar char=""/>
            </a:pP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County Record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PARCEL ONE: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Beginning at a point on the Northeasterly line of Eighth Street, distant thereon, Southeasterly 32.73 feet from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the point of intersection thereof with the Southeasterly line of St. John Street; thence from said point of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beginning Southeasterly along said Northeasterly line of Eighth Street, </a:t>
            </a:r>
            <a:r>
              <a:rPr b="1" lang="en-US" sz="800" spc="-1" strike="noStrike">
                <a:solidFill>
                  <a:srgbClr val="bf0041"/>
                </a:solidFill>
                <a:latin typeface="Calibri"/>
              </a:rPr>
              <a:t>51.57 feet</a:t>
            </a: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; thence at a right angle,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Northeasterly </a:t>
            </a:r>
            <a:r>
              <a:rPr b="1" lang="en-US" sz="800" spc="-1" strike="noStrike">
                <a:solidFill>
                  <a:srgbClr val="bf0041"/>
                </a:solidFill>
                <a:latin typeface="Calibri"/>
              </a:rPr>
              <a:t>137.92 feet </a:t>
            </a: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to the Easterly line of Lot 2, Block 2, Range 9 North, as shown upon the Map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hereinafter referred to; thence at a right angle, along said line Northwesterly </a:t>
            </a:r>
            <a:r>
              <a:rPr b="1" lang="en-US" sz="800" spc="-1" strike="noStrike">
                <a:solidFill>
                  <a:srgbClr val="bf0041"/>
                </a:solidFill>
                <a:latin typeface="Calibri"/>
              </a:rPr>
              <a:t>25.30 feet</a:t>
            </a: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; thence at a right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angle, Southwesterly </a:t>
            </a:r>
            <a:r>
              <a:rPr b="1" lang="en-US" sz="800" spc="-1" strike="noStrike">
                <a:solidFill>
                  <a:srgbClr val="bf0041"/>
                </a:solidFill>
                <a:latin typeface="Calibri"/>
              </a:rPr>
              <a:t>37.92 feet</a:t>
            </a: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; thence at a right angle, Northwesterly </a:t>
            </a:r>
            <a:r>
              <a:rPr b="1" lang="en-US" sz="800" spc="-1" strike="noStrike">
                <a:solidFill>
                  <a:srgbClr val="bf0041"/>
                </a:solidFill>
                <a:latin typeface="Calibri"/>
              </a:rPr>
              <a:t>26.27 feet</a:t>
            </a: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; thence at a right angle,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Southwesterly </a:t>
            </a:r>
            <a:r>
              <a:rPr b="1" lang="en-US" sz="800" spc="-1" strike="noStrike">
                <a:solidFill>
                  <a:srgbClr val="bf0041"/>
                </a:solidFill>
                <a:latin typeface="Calibri"/>
              </a:rPr>
              <a:t>100 feet </a:t>
            </a: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to the point of beginning.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Being a portion of Lot 2, Block 2, Range 9 North, as shown upon the Official Map of the City of San Jose.</a:t>
            </a: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endParaRPr b="0" lang="en-US" sz="800" spc="-1" strike="noStrike">
              <a:latin typeface="Arial"/>
            </a:endParaRPr>
          </a:p>
        </p:txBody>
      </p:sp>
      <p:sp>
        <p:nvSpPr>
          <p:cNvPr id="49" name="標題 3"/>
          <p:cNvSpPr/>
          <p:nvPr/>
        </p:nvSpPr>
        <p:spPr>
          <a:xfrm>
            <a:off x="0" y="764640"/>
            <a:ext cx="9143640" cy="359640"/>
          </a:xfrm>
          <a:prstGeom prst="rect">
            <a:avLst/>
          </a:prstGeom>
          <a:gradFill rotWithShape="0">
            <a:gsLst>
              <a:gs pos="0">
                <a:srgbClr val="00afef"/>
              </a:gs>
              <a:gs pos="100000">
                <a:srgbClr val="00688e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marL="343080" indent="-343080">
              <a:lnSpc>
                <a:spcPct val="100000"/>
              </a:lnSpc>
              <a:buClr>
                <a:srgbClr val="0070c0"/>
              </a:buClr>
              <a:buSzPct val="80000"/>
              <a:buFont typeface="Wingdings" charset="2"/>
              <a:buChar char=""/>
            </a:pPr>
            <a:r>
              <a:rPr b="1" lang="en-US" sz="800" spc="-1" strike="noStrike">
                <a:solidFill>
                  <a:srgbClr val="000000"/>
                </a:solidFill>
                <a:latin typeface="Calibri"/>
              </a:rPr>
              <a:t>https://www.sccassessor.org/online-services/property-search/search-by-map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AFD825-105E-4FC5-B7D3-03AFA3D4048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323640" y="3353040"/>
            <a:ext cx="1845000" cy="2819160"/>
          </a:xfrm>
          <a:prstGeom prst="rect">
            <a:avLst/>
          </a:prstGeom>
          <a:ln w="0">
            <a:solidFill>
              <a:srgbClr val="bf0041"/>
            </a:solidFill>
          </a:ln>
        </p:spPr>
      </p:pic>
      <p:pic>
        <p:nvPicPr>
          <p:cNvPr id="52" name="" descr=""/>
          <p:cNvPicPr/>
          <p:nvPr/>
        </p:nvPicPr>
        <p:blipFill>
          <a:blip r:embed="rId2"/>
          <a:stretch/>
        </p:blipFill>
        <p:spPr>
          <a:xfrm>
            <a:off x="4277160" y="3324600"/>
            <a:ext cx="3495240" cy="2847600"/>
          </a:xfrm>
          <a:prstGeom prst="rect">
            <a:avLst/>
          </a:prstGeom>
          <a:ln w="0">
            <a:solidFill>
              <a:srgbClr val="bf0041"/>
            </a:solidFill>
          </a:ln>
        </p:spPr>
      </p:pic>
      <p:sp>
        <p:nvSpPr>
          <p:cNvPr id="53" name=""/>
          <p:cNvSpPr/>
          <p:nvPr/>
        </p:nvSpPr>
        <p:spPr>
          <a:xfrm>
            <a:off x="5943600" y="4343400"/>
            <a:ext cx="685800" cy="2286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bf0041"/>
                </a:solidFill>
                <a:latin typeface="Arial"/>
              </a:rPr>
              <a:t>137.92’</a:t>
            </a:r>
            <a:endParaRPr b="1" lang="en-US" sz="800" spc="-1" strike="noStrike">
              <a:solidFill>
                <a:srgbClr val="bf0041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4800600" y="2286000"/>
            <a:ext cx="228600" cy="2057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"/>
          <p:cNvSpPr/>
          <p:nvPr/>
        </p:nvSpPr>
        <p:spPr>
          <a:xfrm>
            <a:off x="4800600" y="4800600"/>
            <a:ext cx="685800" cy="2286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bf0041"/>
                </a:solidFill>
                <a:latin typeface="Arial"/>
              </a:rPr>
              <a:t>37.92’</a:t>
            </a:r>
            <a:endParaRPr b="1" lang="en-US" sz="800" spc="-1" strike="noStrike">
              <a:solidFill>
                <a:srgbClr val="bf0041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5257800" y="4921200"/>
            <a:ext cx="685800" cy="2286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bf0041"/>
                </a:solidFill>
                <a:latin typeface="Arial"/>
              </a:rPr>
              <a:t>26.27’</a:t>
            </a:r>
            <a:endParaRPr b="1" lang="en-US" sz="800" spc="-1" strike="noStrike">
              <a:solidFill>
                <a:srgbClr val="bf0041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136200" y="5101200"/>
            <a:ext cx="685800" cy="2286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bf0041"/>
                </a:solidFill>
                <a:latin typeface="Arial"/>
              </a:rPr>
              <a:t>100’</a:t>
            </a:r>
            <a:endParaRPr b="1" lang="en-US" sz="800" spc="-1" strike="noStrike">
              <a:solidFill>
                <a:srgbClr val="bf004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87131C6A-3EF1-44E7-9AD0-A0517B104C43}" type="datetime1">
              <a:rPr lang="en-US"/>
              <a:t>11/01/2025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0" y="2130480"/>
            <a:ext cx="9143640" cy="1469520"/>
          </a:xfrm>
          <a:prstGeom prst="rect">
            <a:avLst/>
          </a:prstGeom>
          <a:gradFill rotWithShape="0">
            <a:gsLst>
              <a:gs pos="0">
                <a:srgbClr val="00afef"/>
              </a:gs>
              <a:gs pos="100000">
                <a:srgbClr val="00688e"/>
              </a:gs>
            </a:gsLst>
            <a:lin ang="8100000"/>
          </a:gradFill>
          <a:ln w="0">
            <a:noFill/>
          </a:ln>
        </p:spPr>
        <p:txBody>
          <a:bodyPr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ffff00"/>
                </a:solidFill>
                <a:latin typeface="Calibri"/>
              </a:rPr>
              <a:t>End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DFC6A8-20E4-456E-99EB-F6CB8F603920}" type="slidenum">
              <a:t>4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4CFDF726-4CEE-4F1D-8E28-B94C664C8FE4}" type="datetime1">
              <a:rPr lang="en-US"/>
              <a:t>11/01/2025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1371</TotalTime>
  <Application>LibreOffice/7.3.7.2$Linux_X86_64 LibreOffice_project/30$Build-2</Application>
  <AppVersion>15.0000</AppVersion>
  <Words>63</Words>
  <Paragraphs>14</Paragraphs>
  <Company>HOME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2018-09-28T16:40:41Z</dcterms:created>
  <dc:creator>USER</dc:creator>
  <dc:description/>
  <dc:language>en-US</dc:language>
  <cp:lastModifiedBy/>
  <dcterms:modified xsi:type="dcterms:W3CDTF">2025-11-01T21:16:36Z</dcterms:modified>
  <cp:revision>501</cp:revision>
  <dc:subject/>
  <dc:title>Node JS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3</vt:i4>
  </property>
</Properties>
</file>